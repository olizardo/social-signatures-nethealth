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Robo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bold.fntdata"/><Relationship Id="rId10" Type="http://schemas.openxmlformats.org/officeDocument/2006/relationships/slide" Target="slides/slide5.xml"/><Relationship Id="rId32" Type="http://schemas.openxmlformats.org/officeDocument/2006/relationships/font" Target="fonts/Roboto-regular.fntdata"/><Relationship Id="rId13" Type="http://schemas.openxmlformats.org/officeDocument/2006/relationships/slide" Target="slides/slide8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3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6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31" name="Google Shape;31;p6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6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6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6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6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7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40" name="Google Shape;40;p7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7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7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7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7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0" name="Google Shape;50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4" name="Google Shape;54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10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5" name="Google Shape;65;p10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6" name="Google Shape;66;p1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0" name="Google Shape;70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3" name="Google Shape;73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" name="Google Shape;78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Relationship Id="rId5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7.png"/><Relationship Id="rId4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9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Relationship Id="rId4" Type="http://schemas.openxmlformats.org/officeDocument/2006/relationships/image" Target="../media/image17.png"/><Relationship Id="rId5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Relationship Id="rId4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Relationship Id="rId4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Patterns in Social Signatures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100" y="2715946"/>
            <a:ext cx="8222100" cy="11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Matthew J. Chandler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iCeNSA, NetHealth Project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May 7, 2019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Preliminaries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Definition of “social signature”</a:t>
            </a:r>
            <a:endParaRPr sz="16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The relative distribution of edge weights across an egocentric network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Especially, ranked proportion of interaction frequency within a given window of time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Like degree distribution for egonets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Calculation procedure</a:t>
            </a:r>
            <a:endParaRPr sz="16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Define time window and bins for weighting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Compute weights for each ego-alter edge, as well as the total weight across edges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Rank edges by weight (</a:t>
            </a:r>
            <a:r>
              <a:rPr b="1" lang="en"/>
              <a:t>descending order</a:t>
            </a:r>
            <a:r>
              <a:rPr lang="en"/>
              <a:t>)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Compute the proportion of total weight for each edge as a function of its rank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8925" y="3248875"/>
            <a:ext cx="414337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4643625" y="4306625"/>
            <a:ext cx="43857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Heydari, et al. 2018. “Multichannel Social Signatures and Persistent Features of Ego Networks.” </a:t>
            </a:r>
            <a:r>
              <a:rPr b="0" i="1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Applied Network Science</a:t>
            </a: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3(8). Eq. 1.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9700" y="322200"/>
            <a:ext cx="4385701" cy="21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4643650" y="2401625"/>
            <a:ext cx="43857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Saramäki, et al. 2014. “Persistence of Social Signatures in Human Communication.” </a:t>
            </a:r>
            <a:r>
              <a:rPr b="0" i="1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PNAS </a:t>
            </a: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111(3): 942-947. Fig. 1.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Preliminaries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157650" y="1115850"/>
            <a:ext cx="4578900" cy="3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Measuring similarity/difference between social signatures</a:t>
            </a:r>
            <a:endParaRPr sz="1600"/>
          </a:p>
          <a:p>
            <a:pPr indent="-3048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The studies take an information-theoretic approach, using </a:t>
            </a:r>
            <a:r>
              <a:rPr i="1" lang="en"/>
              <a:t>Jensen-Shannon Divergence</a:t>
            </a:r>
            <a:r>
              <a:rPr lang="en"/>
              <a:t> (“JSD”; Lin 1991) to compare entire distributions (allowing zeros when they have unequal lengths)</a:t>
            </a:r>
            <a:endParaRPr/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Char char="●"/>
            </a:pPr>
            <a:r>
              <a:rPr lang="en" sz="1600"/>
              <a:t>Assessing stability</a:t>
            </a:r>
            <a:endParaRPr sz="16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i="1" lang="en"/>
              <a:t>Self-divergence</a:t>
            </a:r>
            <a:r>
              <a:rPr lang="en"/>
              <a:t>: mean JSD for social signatures for the same ego at all pairs of consecutive time windows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i="1" lang="en"/>
              <a:t>Reference-divergence</a:t>
            </a:r>
            <a:r>
              <a:rPr lang="en"/>
              <a:t>: mean JSD for all pairs of social signatures in a window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Location tests for difference between self and reference distributions: if self mean is significantly less than reference mean, then it’s stable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866700" y="1583025"/>
            <a:ext cx="22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Saramäki, et al. 2014. Eqs. 2-3.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2799" y="575875"/>
            <a:ext cx="3514924" cy="53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2402" y="1039648"/>
            <a:ext cx="1712222" cy="53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5983275" y="4642175"/>
            <a:ext cx="227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Saramäki, et al. 2014. Fig 1.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0400" y="2206499"/>
            <a:ext cx="3956425" cy="2438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Preliminaries</a:t>
            </a:r>
            <a:endParaRPr/>
          </a:p>
        </p:txBody>
      </p:sp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311700" y="1229975"/>
            <a:ext cx="39999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Major claims so far</a:t>
            </a:r>
            <a:endParaRPr sz="16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Social signature varies across persons, adding contour to weighted degree 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Egos’ social signatures tend to be stable over time, despite alter turnover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Social signature is associated with perceived closeness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The patterns hold for multiple channels of communication (call and text)</a:t>
            </a:r>
            <a:endParaRPr/>
          </a:p>
          <a:p>
            <a:pPr indent="-3302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lang="en" sz="1600"/>
              <a:t>Significance</a:t>
            </a:r>
            <a:endParaRPr sz="16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Extension of Dunbar’s findings on humans’ cognitive-relational capacities</a:t>
            </a:r>
            <a:endParaRPr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Some ties to the Big 5 (Centellegher, et al. 2017), but </a:t>
            </a:r>
            <a:r>
              <a:rPr i="1" lang="en"/>
              <a:t>linkage to social demographics and health outcomes not yet explored</a:t>
            </a:r>
            <a:endParaRPr i="1"/>
          </a:p>
        </p:txBody>
      </p:sp>
      <p:pic>
        <p:nvPicPr>
          <p:cNvPr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1675" y="402100"/>
            <a:ext cx="1947950" cy="188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5811575" y="2343575"/>
            <a:ext cx="21228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Saramäki, et al. 2014. Fig. 1.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5675" y="2857350"/>
            <a:ext cx="4527600" cy="18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919200" y="4728925"/>
            <a:ext cx="20136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Heydari, et al. 2018. Fig. 2.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Explorations with NetHealth Data</a:t>
            </a:r>
            <a:endParaRPr/>
          </a:p>
        </p:txBody>
      </p:sp>
      <p:sp>
        <p:nvSpPr>
          <p:cNvPr id="123" name="Google Shape;123;p17"/>
          <p:cNvSpPr txBox="1"/>
          <p:nvPr>
            <p:ph idx="1" type="body"/>
          </p:nvPr>
        </p:nvSpPr>
        <p:spPr>
          <a:xfrm>
            <a:off x="311700" y="1229975"/>
            <a:ext cx="5134500" cy="37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Replicate major findings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So far, just outgoing calls from iOS devices</a:t>
            </a:r>
            <a:endParaRPr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Still need to clean up multichannel data</a:t>
            </a:r>
            <a:endParaRPr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Still need to link to netsurvey data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i="1" lang="en"/>
              <a:t>The stability claim is robust</a:t>
            </a:r>
            <a:endParaRPr b="1" i="1"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Despite turnover</a:t>
            </a:r>
            <a:endParaRPr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Holds up to all window widths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But there is plenty more to be said about relative stability and cross-sectional divergence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Search for more patterns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Examine the divergence more broadly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Characterize the general form of social signature</a:t>
            </a:r>
            <a:endParaRPr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Power-law models fit best</a:t>
            </a:r>
            <a:endParaRPr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But not resoundingly better than alternatives</a:t>
            </a:r>
            <a:endParaRPr/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How long before ego’s model is stable?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Two Approaches to Binning for Outgoing Calls</a:t>
            </a:r>
            <a:endParaRPr/>
          </a:p>
        </p:txBody>
      </p:sp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4641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600"/>
              <a:t>Calendar-Based Windows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July 1, 2015 through June 30, 2017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Min 2 alters per window per ego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Min avg 10 calls per window per ego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4 Definitions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Academic Years (Jul-Jun)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Semesters (Jul-Dec; Jan-Jun)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Quarters (Jul-Sep; Oct-Dec; Jan-Mar; Apr-Jun)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Months</a:t>
            </a:r>
            <a:endParaRPr sz="1200"/>
          </a:p>
        </p:txBody>
      </p:sp>
      <p:sp>
        <p:nvSpPr>
          <p:cNvPr id="130" name="Google Shape;130;p18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600"/>
              <a:t>Week-Based Windows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July 6, 2015 through July 2, 2017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104 Monday-Sunday Weeks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Min 2 alters per window per ego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lang="en"/>
              <a:t>3 Definitions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3-week moving in 1-week increments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2-week discrete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strike="sngStrike"/>
              <a:t>1-week discrete</a:t>
            </a:r>
            <a:r>
              <a:rPr lang="en" sz="1200"/>
              <a:t> (not enough egos)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5625" y="2691851"/>
            <a:ext cx="3905650" cy="239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1630" y="131450"/>
            <a:ext cx="3390321" cy="244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5200" y="69225"/>
            <a:ext cx="4627425" cy="50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6375" y="228600"/>
            <a:ext cx="356164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1100" y="2894850"/>
            <a:ext cx="3692199" cy="209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9750" y="59250"/>
            <a:ext cx="4684775" cy="500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8225" y="185372"/>
            <a:ext cx="4355099" cy="4551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900" y="185050"/>
            <a:ext cx="4355100" cy="4551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25" y="228600"/>
            <a:ext cx="4412900" cy="464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3875" y="215799"/>
            <a:ext cx="4412900" cy="464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50" y="287850"/>
            <a:ext cx="4399725" cy="459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7575" y="286650"/>
            <a:ext cx="4401725" cy="4601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Generalized Jensen-Shannon Divergence</a:t>
            </a:r>
            <a:endParaRPr/>
          </a:p>
        </p:txBody>
      </p:sp>
      <p:sp>
        <p:nvSpPr>
          <p:cNvPr id="168" name="Google Shape;168;p24"/>
          <p:cNvSpPr txBox="1"/>
          <p:nvPr>
            <p:ph idx="1" type="body"/>
          </p:nvPr>
        </p:nvSpPr>
        <p:spPr>
          <a:xfrm>
            <a:off x="311700" y="1229975"/>
            <a:ext cx="44682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Symmetric, n-ary function with non-negative, finite outputs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Varying weights are allowed, but I assume equal weighting for all distributions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 distributions of differing lengths, I append zeros to the shorter distributions so all are the same length</a:t>
            </a:r>
            <a:endParaRPr/>
          </a:p>
          <a:p>
            <a:pPr indent="-3111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300"/>
              <a:buChar char="○"/>
            </a:pPr>
            <a:r>
              <a:rPr lang="en" sz="1300"/>
              <a:t>Done on-the-fly</a:t>
            </a:r>
            <a:endParaRPr sz="1300"/>
          </a:p>
        </p:txBody>
      </p:sp>
      <p:sp>
        <p:nvSpPr>
          <p:cNvPr id="169" name="Google Shape;169;p24"/>
          <p:cNvSpPr txBox="1"/>
          <p:nvPr/>
        </p:nvSpPr>
        <p:spPr>
          <a:xfrm>
            <a:off x="5396100" y="2421925"/>
            <a:ext cx="3554400" cy="8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Lin, Jianhua. 1991. “Divergence Measures Based on the Shannon Entropy.” IEEE Transactions on Information Theory 37(1): 145-151. Eq. 5.1.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0" name="Google Shape;17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7925" y="1467275"/>
            <a:ext cx="3218100" cy="78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9650" y="163613"/>
            <a:ext cx="2862575" cy="481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25" y="45688"/>
            <a:ext cx="4672725" cy="505212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5"/>
          <p:cNvSpPr txBox="1"/>
          <p:nvPr/>
        </p:nvSpPr>
        <p:spPr>
          <a:xfrm>
            <a:off x="7667775" y="643050"/>
            <a:ext cx="1397400" cy="4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Procedure for Large Bins</a:t>
            </a:r>
            <a:endParaRPr b="1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AutoNum type="arabicPeriod"/>
            </a:pPr>
            <a:r>
              <a:rPr b="0" i="0" lang="en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Group outgoing call records by ego, and then by time window (based on calendar dates)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14300" lvl="0" marL="1714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AutoNum type="arabicPeriod"/>
            </a:pPr>
            <a:r>
              <a:rPr b="0" i="0" lang="en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 each ego and window, tally the number of calls to each alter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14300" lvl="0" marL="1714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AutoNum type="arabicPeriod"/>
            </a:pPr>
            <a:r>
              <a:rPr b="0" i="0" lang="en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 a given window width, select those egos with more than 1 alter in every window and an average number of calls per window greater than 10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14300" lvl="0" marL="17145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900"/>
              <a:buFont typeface="Roboto"/>
              <a:buAutoNum type="arabicPeriod"/>
            </a:pPr>
            <a:r>
              <a:rPr b="0" i="0" lang="en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When comparing window widths, select those egos satisfying the above criteria for all window widths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900" y="0"/>
            <a:ext cx="477360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5226" y="659350"/>
            <a:ext cx="2896401" cy="38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Reference Divergence</a:t>
            </a:r>
            <a:endParaRPr/>
          </a:p>
        </p:txBody>
      </p:sp>
      <p:sp>
        <p:nvSpPr>
          <p:cNvPr id="189" name="Google Shape;189;p27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600"/>
              <a:t>All pairs, averaged over time windows</a:t>
            </a:r>
            <a:endParaRPr b="1" sz="1600"/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Starts with all ego-ego pairs by window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Divergence between the social signatures of ego A and ego B within window C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With n egos and w windows, we compute Binomial[n,2]*w divergence values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 each pair, average divergence over all time windows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So we end up with Binomial[n,2] values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Used to compare the central tendencies of self and reference divergence overall</a:t>
            </a:r>
            <a:endParaRPr/>
          </a:p>
        </p:txBody>
      </p:sp>
      <p:sp>
        <p:nvSpPr>
          <p:cNvPr id="190" name="Google Shape;190;p27"/>
          <p:cNvSpPr txBox="1"/>
          <p:nvPr>
            <p:ph idx="2" type="body"/>
          </p:nvPr>
        </p:nvSpPr>
        <p:spPr>
          <a:xfrm>
            <a:off x="4751150" y="1229975"/>
            <a:ext cx="4156500" cy="3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600"/>
              <a:t>By ego, averaged within time windows</a:t>
            </a:r>
            <a:endParaRPr b="1" sz="1600"/>
          </a:p>
          <a:p>
            <a:pPr indent="-3175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Also starts with all ego-ego pairs by window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 each ego, average divergence over all pairs including ego within each window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With n egos, for a given ego A, select the (n-1) pairs that include A, at all times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For each ego, compute pairwise divergence within each window, giving n*(n-1)*w values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Average over ego within windows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Perhaps also averaged across windows to get n values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Used to assess coviariates of self and reference divergence (e.g., turnover)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6650" y="219550"/>
            <a:ext cx="4684713" cy="4593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050" y="185975"/>
            <a:ext cx="4071633" cy="466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575" y="195400"/>
            <a:ext cx="7568849" cy="263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0"/>
            <a:ext cx="476348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6251" y="649025"/>
            <a:ext cx="3582576" cy="25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26250" y="3780625"/>
            <a:ext cx="710775" cy="61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5424" y="152400"/>
            <a:ext cx="4102376" cy="480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400" y="80975"/>
            <a:ext cx="4497250" cy="495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/>
          <p:nvPr>
            <p:ph type="title"/>
          </p:nvPr>
        </p:nvSpPr>
        <p:spPr>
          <a:xfrm>
            <a:off x="311700" y="1052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Power-law Models of Aggregated Social Signatures</a:t>
            </a:r>
            <a:endParaRPr sz="2400"/>
          </a:p>
        </p:txBody>
      </p:sp>
      <p:pic>
        <p:nvPicPr>
          <p:cNvPr id="220" name="Google Shape;22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3125" y="836725"/>
            <a:ext cx="7306174" cy="22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725" y="1646300"/>
            <a:ext cx="1495425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2"/>
          <p:cNvSpPr txBox="1"/>
          <p:nvPr/>
        </p:nvSpPr>
        <p:spPr>
          <a:xfrm>
            <a:off x="1934700" y="2998800"/>
            <a:ext cx="68976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Both parameters are statistically significant at p&lt;0.00001 for all 532 models.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4488" y="76813"/>
            <a:ext cx="5050225" cy="506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6625" y="182625"/>
            <a:ext cx="6340125" cy="2389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5738" y="2738250"/>
            <a:ext cx="6340124" cy="235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2650" y="73575"/>
            <a:ext cx="6135419" cy="5069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Power-law vs. Exponential Models</a:t>
            </a:r>
            <a:endParaRPr/>
          </a:p>
        </p:txBody>
      </p:sp>
      <p:pic>
        <p:nvPicPr>
          <p:cNvPr id="244" name="Google Shape;24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50" y="3943500"/>
            <a:ext cx="166687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725" y="1951100"/>
            <a:ext cx="1495425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Ego variation in parameters; burn-in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Covariants</a:t>
            </a:r>
            <a:endParaRPr/>
          </a:p>
        </p:txBody>
      </p:sp>
      <p:sp>
        <p:nvSpPr>
          <p:cNvPr id="256" name="Google Shape;256;p38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Degree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Clustering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Turnover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Total activity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Structural typology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Modularity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Betweenness centralization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Density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Diameter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Closeness</a:t>
            </a:r>
            <a:endParaRPr/>
          </a:p>
        </p:txBody>
      </p:sp>
      <p:sp>
        <p:nvSpPr>
          <p:cNvPr id="257" name="Google Shape;257;p38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Divergence as a function of change in activity level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Tease out turnover and divergence: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How stable when there is more turnover?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